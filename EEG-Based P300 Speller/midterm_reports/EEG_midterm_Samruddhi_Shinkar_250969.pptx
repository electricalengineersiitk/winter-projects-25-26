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61" r:id="rId6"/>
    <p:sldId id="264" r:id="rId7"/>
    <p:sldId id="267" r:id="rId8"/>
    <p:sldId id="263" r:id="rId9"/>
    <p:sldId id="268" r:id="rId10"/>
    <p:sldId id="266" r:id="rId11"/>
    <p:sldId id="272" r:id="rId12"/>
    <p:sldId id="265" r:id="rId13"/>
    <p:sldId id="269" r:id="rId14"/>
    <p:sldId id="271" r:id="rId15"/>
    <p:sldId id="270" r:id="rId16"/>
    <p:sldId id="25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86" d="100"/>
          <a:sy n="86" d="100"/>
        </p:scale>
        <p:origin x="5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AAA6D6-9097-471F-B1A6-A57D85CBF530}" type="datetimeFigureOut">
              <a:rPr lang="en-IN" smtClean="0"/>
              <a:t>09-01-2026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6186AF0D-3CBE-4C0D-9B17-C4F84154515E}"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8998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AAA6D6-9097-471F-B1A6-A57D85CBF530}"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6AF0D-3CBE-4C0D-9B17-C4F84154515E}"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2110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AAA6D6-9097-471F-B1A6-A57D85CBF530}"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6AF0D-3CBE-4C0D-9B17-C4F84154515E}"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543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AAA6D6-9097-471F-B1A6-A57D85CBF530}"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86AF0D-3CBE-4C0D-9B17-C4F84154515E}"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36142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AAA6D6-9097-471F-B1A6-A57D85CBF530}" type="datetimeFigureOut">
              <a:rPr lang="en-IN" smtClean="0"/>
              <a:t>09-01-2026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86AF0D-3CBE-4C0D-9B17-C4F84154515E}"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98527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AAA6D6-9097-471F-B1A6-A57D85CBF530}" type="datetimeFigureOut">
              <a:rPr lang="en-IN" smtClean="0"/>
              <a:t>09-01-2026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86AF0D-3CBE-4C0D-9B17-C4F84154515E}"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02041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AAA6D6-9097-471F-B1A6-A57D85CBF530}" type="datetimeFigureOut">
              <a:rPr lang="en-IN" smtClean="0"/>
              <a:t>09-01-2026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86AF0D-3CBE-4C0D-9B17-C4F84154515E}" type="slidenum">
              <a:rPr lang="en-IN" smtClean="0"/>
              <a:t>‹#›</a:t>
            </a:fld>
            <a:endParaRPr lang="en-IN"/>
          </a:p>
        </p:txBody>
      </p:sp>
    </p:spTree>
    <p:extLst>
      <p:ext uri="{BB962C8B-B14F-4D97-AF65-F5344CB8AC3E}">
        <p14:creationId xmlns:p14="http://schemas.microsoft.com/office/powerpoint/2010/main" val="492540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1AAA6D6-9097-471F-B1A6-A57D85CBF530}"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86AF0D-3CBE-4C0D-9B17-C4F84154515E}"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71496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1AAA6D6-9097-471F-B1A6-A57D85CBF530}" type="datetimeFigureOut">
              <a:rPr lang="en-IN" smtClean="0"/>
              <a:t>09-01-2026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6186AF0D-3CBE-4C0D-9B17-C4F84154515E}"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14050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AAA6D6-9097-471F-B1A6-A57D85CBF530}"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6AF0D-3CBE-4C0D-9B17-C4F84154515E}"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3957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AAA6D6-9097-471F-B1A6-A57D85CBF530}"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6AF0D-3CBE-4C0D-9B17-C4F84154515E}"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3212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1AAA6D6-9097-471F-B1A6-A57D85CBF530}" type="datetimeFigureOut">
              <a:rPr lang="en-IN" smtClean="0"/>
              <a:t>09-01-2026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186AF0D-3CBE-4C0D-9B17-C4F84154515E}"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91422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mne.tools/stable/generated/mne.Epochs.html#mne.Epochs" TargetMode="External"/><Relationship Id="rId3" Type="http://schemas.openxmlformats.org/officeDocument/2006/relationships/hyperlink" Target="https://mne.tools/stable/generated/mne.Epochs.html#mne.Epochs.resample" TargetMode="External"/><Relationship Id="rId7" Type="http://schemas.openxmlformats.org/officeDocument/2006/relationships/hyperlink" Target="https://mne.tools/stable/generated/mne.io.Raw.html#mne.io.Raw" TargetMode="External"/><Relationship Id="rId2" Type="http://schemas.openxmlformats.org/officeDocument/2006/relationships/hyperlink" Target="https://mne.tools/stable/generated/mne.io.Raw.html#mne.io.Raw.resample" TargetMode="External"/><Relationship Id="rId1" Type="http://schemas.openxmlformats.org/officeDocument/2006/relationships/slideLayout" Target="../slideLayouts/slideLayout2.xml"/><Relationship Id="rId6" Type="http://schemas.openxmlformats.org/officeDocument/2006/relationships/hyperlink" Target="https://en.wikipedia.org/wiki/Nyquist_frequency" TargetMode="External"/><Relationship Id="rId5" Type="http://schemas.openxmlformats.org/officeDocument/2006/relationships/hyperlink" Target="https://en.wikipedia.org/wiki/Anti-aliasing_filter" TargetMode="External"/><Relationship Id="rId4" Type="http://schemas.openxmlformats.org/officeDocument/2006/relationships/hyperlink" Target="https://mne.tools/stable/generated/mne.Evoked.html#mne.Evoked.resample" TargetMode="External"/><Relationship Id="rId9" Type="http://schemas.openxmlformats.org/officeDocument/2006/relationships/hyperlink" Target="https://mne.tools/stable/generated/mne.Evoked.html#mne.Evoke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mne.tools/stable/generated/mne.preprocessing.ICA.html#mne.preprocessing.ICA.apply" TargetMode="External"/><Relationship Id="rId2" Type="http://schemas.openxmlformats.org/officeDocument/2006/relationships/hyperlink" Target="https://mne.tools/stable/generated/mne.preprocessing.ICA.html#mne.preprocessing.IC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mne.tools/stable/generated/mne.Evoked.html#mne.Evoked.plot_topomap"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E9434-9041-F34C-11B2-65B1B6FA8D07}"/>
              </a:ext>
            </a:extLst>
          </p:cNvPr>
          <p:cNvSpPr>
            <a:spLocks noGrp="1"/>
          </p:cNvSpPr>
          <p:nvPr>
            <p:ph type="ctrTitle"/>
          </p:nvPr>
        </p:nvSpPr>
        <p:spPr/>
        <p:txBody>
          <a:bodyPr>
            <a:normAutofit/>
          </a:bodyPr>
          <a:lstStyle/>
          <a:p>
            <a:r>
              <a:rPr lang="en-IN" sz="5600" b="1" dirty="0"/>
              <a:t>EEG-Based P300 Speller</a:t>
            </a:r>
            <a:endParaRPr lang="en-IN" sz="1500" dirty="0"/>
          </a:p>
        </p:txBody>
      </p:sp>
      <p:sp>
        <p:nvSpPr>
          <p:cNvPr id="3" name="Subtitle 2">
            <a:extLst>
              <a:ext uri="{FF2B5EF4-FFF2-40B4-BE49-F238E27FC236}">
                <a16:creationId xmlns:a16="http://schemas.microsoft.com/office/drawing/2014/main" id="{BC246A3B-4A06-8E69-1DBD-71D372542E2A}"/>
              </a:ext>
            </a:extLst>
          </p:cNvPr>
          <p:cNvSpPr>
            <a:spLocks noGrp="1"/>
          </p:cNvSpPr>
          <p:nvPr>
            <p:ph type="subTitle" idx="1"/>
          </p:nvPr>
        </p:nvSpPr>
        <p:spPr/>
        <p:txBody>
          <a:bodyPr>
            <a:normAutofit/>
          </a:bodyPr>
          <a:lstStyle/>
          <a:p>
            <a:r>
              <a:rPr lang="en-US" dirty="0"/>
              <a:t>Name – </a:t>
            </a:r>
            <a:r>
              <a:rPr lang="en-US" dirty="0" err="1"/>
              <a:t>samruddhi</a:t>
            </a:r>
            <a:r>
              <a:rPr lang="en-US" dirty="0"/>
              <a:t> </a:t>
            </a:r>
            <a:r>
              <a:rPr lang="en-US" dirty="0" err="1"/>
              <a:t>shinkar</a:t>
            </a:r>
            <a:endParaRPr lang="en-US" dirty="0"/>
          </a:p>
          <a:p>
            <a:r>
              <a:rPr lang="en-US" dirty="0"/>
              <a:t>Roll no- 250969.</a:t>
            </a:r>
            <a:endParaRPr lang="en-IN" dirty="0"/>
          </a:p>
        </p:txBody>
      </p:sp>
      <p:sp>
        <p:nvSpPr>
          <p:cNvPr id="4" name="TextBox 3">
            <a:extLst>
              <a:ext uri="{FF2B5EF4-FFF2-40B4-BE49-F238E27FC236}">
                <a16:creationId xmlns:a16="http://schemas.microsoft.com/office/drawing/2014/main" id="{203CF612-ADB5-32E2-884B-EDD61B116D8A}"/>
              </a:ext>
            </a:extLst>
          </p:cNvPr>
          <p:cNvSpPr txBox="1"/>
          <p:nvPr/>
        </p:nvSpPr>
        <p:spPr>
          <a:xfrm>
            <a:off x="5651500" y="2764366"/>
            <a:ext cx="1917700" cy="369332"/>
          </a:xfrm>
          <a:prstGeom prst="rect">
            <a:avLst/>
          </a:prstGeom>
          <a:noFill/>
        </p:spPr>
        <p:txBody>
          <a:bodyPr wrap="square" rtlCol="0">
            <a:spAutoFit/>
          </a:bodyPr>
          <a:lstStyle/>
          <a:p>
            <a:r>
              <a:rPr lang="en-US" dirty="0"/>
              <a:t>Mid Term Report.</a:t>
            </a:r>
            <a:endParaRPr lang="en-IN" dirty="0"/>
          </a:p>
        </p:txBody>
      </p:sp>
    </p:spTree>
    <p:extLst>
      <p:ext uri="{BB962C8B-B14F-4D97-AF65-F5344CB8AC3E}">
        <p14:creationId xmlns:p14="http://schemas.microsoft.com/office/powerpoint/2010/main" val="511166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1AA59-01B6-2184-5D37-76E42289CD69}"/>
              </a:ext>
            </a:extLst>
          </p:cNvPr>
          <p:cNvSpPr>
            <a:spLocks noGrp="1"/>
          </p:cNvSpPr>
          <p:nvPr>
            <p:ph type="title"/>
          </p:nvPr>
        </p:nvSpPr>
        <p:spPr/>
        <p:txBody>
          <a:bodyPr/>
          <a:lstStyle/>
          <a:p>
            <a:r>
              <a:rPr lang="en-US" dirty="0"/>
              <a:t>Basic things we used</a:t>
            </a:r>
            <a:endParaRPr lang="en-IN" dirty="0"/>
          </a:p>
        </p:txBody>
      </p:sp>
      <p:sp>
        <p:nvSpPr>
          <p:cNvPr id="3" name="Content Placeholder 2">
            <a:extLst>
              <a:ext uri="{FF2B5EF4-FFF2-40B4-BE49-F238E27FC236}">
                <a16:creationId xmlns:a16="http://schemas.microsoft.com/office/drawing/2014/main" id="{4FB1ED00-852E-1FD1-E937-13D5158E6292}"/>
              </a:ext>
            </a:extLst>
          </p:cNvPr>
          <p:cNvSpPr>
            <a:spLocks noGrp="1"/>
          </p:cNvSpPr>
          <p:nvPr>
            <p:ph idx="1"/>
          </p:nvPr>
        </p:nvSpPr>
        <p:spPr/>
        <p:txBody>
          <a:bodyPr/>
          <a:lstStyle/>
          <a:p>
            <a:r>
              <a:rPr lang="en-US" dirty="0"/>
              <a:t>EEG is basically the measurement of the brain’s activity using the electrodes placed on the scalp of the person.</a:t>
            </a:r>
          </a:p>
          <a:p>
            <a:r>
              <a:rPr lang="en-US" dirty="0"/>
              <a:t>EEG signals are used to detect the changes in brain activity to diagnose various brain-diseases.</a:t>
            </a:r>
          </a:p>
          <a:p>
            <a:r>
              <a:rPr lang="en-US" dirty="0"/>
              <a:t>P300 is a positive voltage peak around 300 </a:t>
            </a:r>
            <a:r>
              <a:rPr lang="en-US" dirty="0" err="1"/>
              <a:t>ms</a:t>
            </a:r>
            <a:r>
              <a:rPr lang="en-US" dirty="0"/>
              <a:t> after detecting a target stimulus.</a:t>
            </a:r>
            <a:endParaRPr lang="en-IN" dirty="0"/>
          </a:p>
        </p:txBody>
      </p:sp>
    </p:spTree>
    <p:extLst>
      <p:ext uri="{BB962C8B-B14F-4D97-AF65-F5344CB8AC3E}">
        <p14:creationId xmlns:p14="http://schemas.microsoft.com/office/powerpoint/2010/main" val="3507492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935A4-E083-8A01-1133-B3CBB96D19E3}"/>
              </a:ext>
            </a:extLst>
          </p:cNvPr>
          <p:cNvSpPr>
            <a:spLocks noGrp="1"/>
          </p:cNvSpPr>
          <p:nvPr>
            <p:ph type="title"/>
          </p:nvPr>
        </p:nvSpPr>
        <p:spPr/>
        <p:txBody>
          <a:bodyPr/>
          <a:lstStyle/>
          <a:p>
            <a:r>
              <a:rPr lang="en-US" dirty="0"/>
              <a:t>What are we doing in this project</a:t>
            </a:r>
            <a:endParaRPr lang="en-IN" dirty="0"/>
          </a:p>
        </p:txBody>
      </p:sp>
      <p:sp>
        <p:nvSpPr>
          <p:cNvPr id="3" name="Content Placeholder 2">
            <a:extLst>
              <a:ext uri="{FF2B5EF4-FFF2-40B4-BE49-F238E27FC236}">
                <a16:creationId xmlns:a16="http://schemas.microsoft.com/office/drawing/2014/main" id="{F967E4A2-7B75-9E62-7A45-C157B185E04D}"/>
              </a:ext>
            </a:extLst>
          </p:cNvPr>
          <p:cNvSpPr>
            <a:spLocks noGrp="1"/>
          </p:cNvSpPr>
          <p:nvPr>
            <p:ph idx="1"/>
          </p:nvPr>
        </p:nvSpPr>
        <p:spPr/>
        <p:txBody>
          <a:bodyPr>
            <a:normAutofit lnSpcReduction="10000"/>
          </a:bodyPr>
          <a:lstStyle/>
          <a:p>
            <a:r>
              <a:rPr lang="en-US" dirty="0"/>
              <a:t>This project develops a brain-controlled typing system. Users can select letters on a screen by focusing their attention, and the system detects their choice by reading a specific brainwave pattern called the P300.</a:t>
            </a:r>
          </a:p>
          <a:p>
            <a:r>
              <a:rPr lang="en-US" dirty="0"/>
              <a:t>The project takes us through the complete process of a BCI system: capturing brain signals (EEG), cleaning the data, training the machine learning model, and finally deploying it for real-time, mind-driven spelling.</a:t>
            </a:r>
          </a:p>
          <a:p>
            <a:r>
              <a:rPr lang="en-US" dirty="0"/>
              <a:t>The end goal is a functional speller system with a modular backend, so we can easily test and swap different ML models while maintaining stable real-time performance.</a:t>
            </a:r>
            <a:br>
              <a:rPr lang="en-US" dirty="0"/>
            </a:br>
            <a:endParaRPr lang="en-US" dirty="0"/>
          </a:p>
          <a:p>
            <a:endParaRPr lang="en-IN" dirty="0"/>
          </a:p>
        </p:txBody>
      </p:sp>
    </p:spTree>
    <p:extLst>
      <p:ext uri="{BB962C8B-B14F-4D97-AF65-F5344CB8AC3E}">
        <p14:creationId xmlns:p14="http://schemas.microsoft.com/office/powerpoint/2010/main" val="182746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DC2F0-33A4-1CBA-7199-B789711475F7}"/>
              </a:ext>
            </a:extLst>
          </p:cNvPr>
          <p:cNvSpPr>
            <a:spLocks noGrp="1"/>
          </p:cNvSpPr>
          <p:nvPr>
            <p:ph type="title"/>
          </p:nvPr>
        </p:nvSpPr>
        <p:spPr/>
        <p:txBody>
          <a:bodyPr/>
          <a:lstStyle/>
          <a:p>
            <a:r>
              <a:rPr lang="en-US" dirty="0"/>
              <a:t>Machine learning</a:t>
            </a:r>
            <a:endParaRPr lang="en-IN" dirty="0"/>
          </a:p>
        </p:txBody>
      </p:sp>
      <p:sp>
        <p:nvSpPr>
          <p:cNvPr id="3" name="Content Placeholder 2">
            <a:extLst>
              <a:ext uri="{FF2B5EF4-FFF2-40B4-BE49-F238E27FC236}">
                <a16:creationId xmlns:a16="http://schemas.microsoft.com/office/drawing/2014/main" id="{196A1BE2-2C73-E9E6-F074-118129B59008}"/>
              </a:ext>
            </a:extLst>
          </p:cNvPr>
          <p:cNvSpPr>
            <a:spLocks noGrp="1"/>
          </p:cNvSpPr>
          <p:nvPr>
            <p:ph idx="1"/>
          </p:nvPr>
        </p:nvSpPr>
        <p:spPr/>
        <p:txBody>
          <a:bodyPr>
            <a:normAutofit fontScale="92500" lnSpcReduction="20000"/>
          </a:bodyPr>
          <a:lstStyle/>
          <a:p>
            <a:r>
              <a:rPr lang="en-US" dirty="0"/>
              <a:t>In ML, we majorly learnt about the basics. </a:t>
            </a:r>
          </a:p>
          <a:p>
            <a:r>
              <a:rPr lang="en-US" dirty="0"/>
              <a:t>In Supervised learning-types of Regression, Support Vector Machines(SVM), Decision trees, basic Random </a:t>
            </a:r>
            <a:r>
              <a:rPr lang="en-US" dirty="0" err="1"/>
              <a:t>Forests,etc</a:t>
            </a:r>
            <a:r>
              <a:rPr lang="en-US" dirty="0"/>
              <a:t> We learnt using forward propagation for all inputs of the independent variable to find the function(dependent variable) and evaluate the loss function and then finding the gradient descent of the loss function. (these steps are followed until the loss functions are minimized).</a:t>
            </a:r>
          </a:p>
          <a:p>
            <a:r>
              <a:rPr lang="en-US" dirty="0"/>
              <a:t>We also learnt different types of Neural Networks like </a:t>
            </a:r>
            <a:r>
              <a:rPr lang="en-US" dirty="0" err="1"/>
              <a:t>Softmath</a:t>
            </a:r>
            <a:r>
              <a:rPr lang="en-US" dirty="0"/>
              <a:t>  Activation function Feed-forward,  Convolutional Neural Network, etc.</a:t>
            </a:r>
          </a:p>
          <a:p>
            <a:r>
              <a:rPr lang="en-US" dirty="0"/>
              <a:t>We also learnt Feedback/Recurrent Neural Network(RNN) and its Paradigms Backpropagation of time through RNN and Long-Short Term Memor.</a:t>
            </a:r>
          </a:p>
        </p:txBody>
      </p:sp>
      <p:pic>
        <p:nvPicPr>
          <p:cNvPr id="5" name="Picture 4" descr="A diagram of a weight loss&#10;&#10;AI-generated content may be incorrect.">
            <a:extLst>
              <a:ext uri="{FF2B5EF4-FFF2-40B4-BE49-F238E27FC236}">
                <a16:creationId xmlns:a16="http://schemas.microsoft.com/office/drawing/2014/main" id="{B12D7543-6C06-2974-FAC2-6FCA81969B9F}"/>
              </a:ext>
            </a:extLst>
          </p:cNvPr>
          <p:cNvPicPr>
            <a:picLocks noChangeAspect="1"/>
          </p:cNvPicPr>
          <p:nvPr/>
        </p:nvPicPr>
        <p:blipFill>
          <a:blip r:embed="rId2"/>
          <a:stretch>
            <a:fillRect/>
          </a:stretch>
        </p:blipFill>
        <p:spPr>
          <a:xfrm>
            <a:off x="8395329" y="241085"/>
            <a:ext cx="2659525" cy="1931059"/>
          </a:xfrm>
          <a:prstGeom prst="rect">
            <a:avLst/>
          </a:prstGeom>
          <a:gradFill>
            <a:gsLst>
              <a:gs pos="89511">
                <a:srgbClr val="EE9BA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Tree>
    <p:extLst>
      <p:ext uri="{BB962C8B-B14F-4D97-AF65-F5344CB8AC3E}">
        <p14:creationId xmlns:p14="http://schemas.microsoft.com/office/powerpoint/2010/main" val="310510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493BF-9B15-B91C-9754-A9A256FBF5A3}"/>
              </a:ext>
            </a:extLst>
          </p:cNvPr>
          <p:cNvSpPr>
            <a:spLocks noGrp="1"/>
          </p:cNvSpPr>
          <p:nvPr>
            <p:ph type="title"/>
          </p:nvPr>
        </p:nvSpPr>
        <p:spPr/>
        <p:txBody>
          <a:bodyPr/>
          <a:lstStyle/>
          <a:p>
            <a:r>
              <a:rPr lang="en-US" dirty="0"/>
              <a:t>preprocessing: FILTERING AND RESAMPLING</a:t>
            </a:r>
            <a:endParaRPr lang="en-IN" dirty="0"/>
          </a:p>
        </p:txBody>
      </p:sp>
      <p:sp>
        <p:nvSpPr>
          <p:cNvPr id="3" name="Content Placeholder 2">
            <a:extLst>
              <a:ext uri="{FF2B5EF4-FFF2-40B4-BE49-F238E27FC236}">
                <a16:creationId xmlns:a16="http://schemas.microsoft.com/office/drawing/2014/main" id="{DD56B1D7-9781-2AE5-AF4B-EA3D59D654A8}"/>
              </a:ext>
            </a:extLst>
          </p:cNvPr>
          <p:cNvSpPr>
            <a:spLocks noGrp="1"/>
          </p:cNvSpPr>
          <p:nvPr>
            <p:ph idx="1"/>
          </p:nvPr>
        </p:nvSpPr>
        <p:spPr/>
        <p:txBody>
          <a:bodyPr>
            <a:normAutofit fontScale="70000" lnSpcReduction="20000"/>
          </a:bodyPr>
          <a:lstStyle/>
          <a:p>
            <a:r>
              <a:rPr lang="en-US" dirty="0"/>
              <a:t>A filter removes or attenuates parts of a signal. Usually, filters act on specific </a:t>
            </a:r>
            <a:r>
              <a:rPr lang="en-US" i="1" dirty="0"/>
              <a:t>frequency ranges</a:t>
            </a:r>
            <a:r>
              <a:rPr lang="en-US" dirty="0"/>
              <a:t> of a signal. For example, suppressing all frequency components above or below a certain cutoff value. </a:t>
            </a:r>
          </a:p>
          <a:p>
            <a:r>
              <a:rPr lang="en-US" dirty="0"/>
              <a:t>Artifacts that are restricted to a narrow frequency range can sometimes be repaired by filtering the data.</a:t>
            </a:r>
          </a:p>
          <a:p>
            <a:r>
              <a:rPr lang="en-US" dirty="0"/>
              <a:t>In MNE-Python, the resampling methods (</a:t>
            </a:r>
            <a:r>
              <a:rPr lang="en-US" b="1" dirty="0" err="1">
                <a:hlinkClick r:id="rId2" tooltip="mne.io.Raw.resample"/>
              </a:rPr>
              <a:t>raw.resample</a:t>
            </a:r>
            <a:r>
              <a:rPr lang="en-US" b="1" dirty="0">
                <a:hlinkClick r:id="rId2" tooltip="mne.io.Raw.resample"/>
              </a:rPr>
              <a:t>()</a:t>
            </a:r>
            <a:r>
              <a:rPr lang="en-US" dirty="0"/>
              <a:t>,  </a:t>
            </a:r>
            <a:r>
              <a:rPr lang="en-US" b="1" dirty="0" err="1">
                <a:hlinkClick r:id="rId3" tooltip="mne.Epochs.resample"/>
              </a:rPr>
              <a:t>epochs.resample</a:t>
            </a:r>
            <a:r>
              <a:rPr lang="en-US" b="1" dirty="0">
                <a:hlinkClick r:id="rId3" tooltip="mne.Epochs.resample"/>
              </a:rPr>
              <a:t>()</a:t>
            </a:r>
            <a:r>
              <a:rPr lang="en-US" dirty="0"/>
              <a:t> and </a:t>
            </a:r>
            <a:r>
              <a:rPr lang="en-US" b="1" dirty="0" err="1">
                <a:hlinkClick r:id="rId4" tooltip="mne.Evoked.resample"/>
              </a:rPr>
              <a:t>evoked.resample</a:t>
            </a:r>
            <a:r>
              <a:rPr lang="en-US" b="1" dirty="0">
                <a:hlinkClick r:id="rId4" tooltip="mne.Evoked.resample"/>
              </a:rPr>
              <a:t>()</a:t>
            </a:r>
            <a:r>
              <a:rPr lang="en-US" dirty="0"/>
              <a:t>) apply a low-pass filter to the signal to avoid </a:t>
            </a:r>
            <a:r>
              <a:rPr lang="en-US" dirty="0">
                <a:hlinkClick r:id="rId5"/>
              </a:rPr>
              <a:t>aliasing</a:t>
            </a:r>
            <a:r>
              <a:rPr lang="en-US" dirty="0"/>
              <a:t>, so you don’t need to explicitly filter it yourself first. This built-in filtering that happens when using </a:t>
            </a:r>
            <a:r>
              <a:rPr lang="en-US" b="1" dirty="0" err="1">
                <a:hlinkClick r:id="rId2" tooltip="mne.io.Raw.resample"/>
              </a:rPr>
              <a:t>raw.resample</a:t>
            </a:r>
            <a:r>
              <a:rPr lang="en-US" b="1" dirty="0">
                <a:hlinkClick r:id="rId2" tooltip="mne.io.Raw.resample"/>
              </a:rPr>
              <a:t>()</a:t>
            </a:r>
            <a:r>
              <a:rPr lang="en-US" dirty="0"/>
              <a:t>, </a:t>
            </a:r>
            <a:r>
              <a:rPr lang="en-US" b="1" dirty="0" err="1">
                <a:hlinkClick r:id="rId3" tooltip="mne.Epochs.resample"/>
              </a:rPr>
              <a:t>epochs.resample</a:t>
            </a:r>
            <a:r>
              <a:rPr lang="en-US" b="1" dirty="0">
                <a:hlinkClick r:id="rId3" tooltip="mne.Epochs.resample"/>
              </a:rPr>
              <a:t>()</a:t>
            </a:r>
            <a:r>
              <a:rPr lang="en-US" dirty="0"/>
              <a:t>, or </a:t>
            </a:r>
            <a:r>
              <a:rPr lang="en-US" b="1" dirty="0" err="1">
                <a:hlinkClick r:id="rId4" tooltip="mne.Evoked.resample"/>
              </a:rPr>
              <a:t>evoked.resample</a:t>
            </a:r>
            <a:r>
              <a:rPr lang="en-US" b="1" dirty="0">
                <a:hlinkClick r:id="rId4" tooltip="mne.Evoked.resample"/>
              </a:rPr>
              <a:t>()</a:t>
            </a:r>
            <a:r>
              <a:rPr lang="en-US" dirty="0"/>
              <a:t> is a brick-wall filter applied in the frequency domain at the </a:t>
            </a:r>
            <a:r>
              <a:rPr lang="en-US" dirty="0">
                <a:hlinkClick r:id="rId6"/>
              </a:rPr>
              <a:t>Nyquist frequency</a:t>
            </a:r>
            <a:r>
              <a:rPr lang="en-US" dirty="0"/>
              <a:t> of the desired new sampling rate. </a:t>
            </a:r>
          </a:p>
          <a:p>
            <a:r>
              <a:rPr lang="en-US" dirty="0"/>
              <a:t>By default, MNE-Python resamples using method=“</a:t>
            </a:r>
            <a:r>
              <a:rPr lang="en-US" dirty="0" err="1"/>
              <a:t>fft</a:t>
            </a:r>
            <a:r>
              <a:rPr lang="en-US" dirty="0"/>
              <a:t>” or </a:t>
            </a:r>
            <a:r>
              <a:rPr lang="en-IN" dirty="0"/>
              <a:t>method=“polyphase”;</a:t>
            </a:r>
            <a:r>
              <a:rPr lang="en-US" dirty="0"/>
              <a:t>method="polyphase" can also be faster than method="</a:t>
            </a:r>
            <a:r>
              <a:rPr lang="en-US" dirty="0" err="1"/>
              <a:t>fft</a:t>
            </a:r>
            <a:r>
              <a:rPr lang="en-US" dirty="0"/>
              <a:t>" in cases where the desired sampling rate is an integer factor different from the input sampling rate.</a:t>
            </a:r>
          </a:p>
          <a:p>
            <a:r>
              <a:rPr lang="en-US" dirty="0"/>
              <a:t>To avoid the reduction in temporal precision of events that comes with resampling a </a:t>
            </a:r>
            <a:r>
              <a:rPr lang="en-US" b="1" dirty="0">
                <a:hlinkClick r:id="rId7" tooltip="mne.io.Raw"/>
              </a:rPr>
              <a:t>Raw</a:t>
            </a:r>
            <a:r>
              <a:rPr lang="en-US" dirty="0"/>
              <a:t> object, and also avoid the edge artifacts that come with filtering an </a:t>
            </a:r>
            <a:r>
              <a:rPr lang="en-US" b="1" dirty="0">
                <a:hlinkClick r:id="rId8" tooltip="mne.Epochs"/>
              </a:rPr>
              <a:t>Epochs</a:t>
            </a:r>
            <a:r>
              <a:rPr lang="en-US" dirty="0"/>
              <a:t> or </a:t>
            </a:r>
            <a:r>
              <a:rPr lang="en-US" b="1" dirty="0">
                <a:hlinkClick r:id="rId9" tooltip="mne.Evoked"/>
              </a:rPr>
              <a:t>Evoked</a:t>
            </a:r>
            <a:r>
              <a:rPr lang="en-US" dirty="0"/>
              <a:t> object, the best practice is to.</a:t>
            </a:r>
          </a:p>
          <a:p>
            <a:endParaRPr lang="en-US" dirty="0"/>
          </a:p>
          <a:p>
            <a:endParaRPr lang="en-IN" dirty="0"/>
          </a:p>
        </p:txBody>
      </p:sp>
    </p:spTree>
    <p:extLst>
      <p:ext uri="{BB962C8B-B14F-4D97-AF65-F5344CB8AC3E}">
        <p14:creationId xmlns:p14="http://schemas.microsoft.com/office/powerpoint/2010/main" val="349342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showing a line&#10;&#10;AI-generated content may be incorrect.">
            <a:extLst>
              <a:ext uri="{FF2B5EF4-FFF2-40B4-BE49-F238E27FC236}">
                <a16:creationId xmlns:a16="http://schemas.microsoft.com/office/drawing/2014/main" id="{5A96F4C7-EF5D-D98D-CD61-241F1BC5B878}"/>
              </a:ext>
            </a:extLst>
          </p:cNvPr>
          <p:cNvPicPr>
            <a:picLocks noChangeAspect="1"/>
          </p:cNvPicPr>
          <p:nvPr/>
        </p:nvPicPr>
        <p:blipFill>
          <a:blip r:embed="rId2"/>
          <a:stretch>
            <a:fillRect/>
          </a:stretch>
        </p:blipFill>
        <p:spPr>
          <a:xfrm>
            <a:off x="1606725" y="234844"/>
            <a:ext cx="8215072" cy="2712955"/>
          </a:xfrm>
          <a:prstGeom prst="rect">
            <a:avLst/>
          </a:prstGeom>
        </p:spPr>
      </p:pic>
      <p:pic>
        <p:nvPicPr>
          <p:cNvPr id="5" name="Picture 4" descr="A graph showing a line&#10;&#10;AI-generated content may be incorrect.">
            <a:extLst>
              <a:ext uri="{FF2B5EF4-FFF2-40B4-BE49-F238E27FC236}">
                <a16:creationId xmlns:a16="http://schemas.microsoft.com/office/drawing/2014/main" id="{596F143F-476F-595F-DBF5-2A49AC767C10}"/>
              </a:ext>
            </a:extLst>
          </p:cNvPr>
          <p:cNvPicPr>
            <a:picLocks noChangeAspect="1"/>
          </p:cNvPicPr>
          <p:nvPr/>
        </p:nvPicPr>
        <p:blipFill>
          <a:blip r:embed="rId3"/>
          <a:stretch>
            <a:fillRect/>
          </a:stretch>
        </p:blipFill>
        <p:spPr>
          <a:xfrm>
            <a:off x="1621966" y="3142910"/>
            <a:ext cx="8184589" cy="2720576"/>
          </a:xfrm>
          <a:prstGeom prst="rect">
            <a:avLst/>
          </a:prstGeom>
        </p:spPr>
      </p:pic>
    </p:spTree>
    <p:extLst>
      <p:ext uri="{BB962C8B-B14F-4D97-AF65-F5344CB8AC3E}">
        <p14:creationId xmlns:p14="http://schemas.microsoft.com/office/powerpoint/2010/main" val="707134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graph&#10;&#10;AI-generated content may be incorrect.">
            <a:extLst>
              <a:ext uri="{FF2B5EF4-FFF2-40B4-BE49-F238E27FC236}">
                <a16:creationId xmlns:a16="http://schemas.microsoft.com/office/drawing/2014/main" id="{25726E76-2EF6-DE44-6D54-DCCE50C32370}"/>
              </a:ext>
            </a:extLst>
          </p:cNvPr>
          <p:cNvPicPr>
            <a:picLocks noChangeAspect="1"/>
          </p:cNvPicPr>
          <p:nvPr/>
        </p:nvPicPr>
        <p:blipFill>
          <a:blip r:embed="rId2"/>
          <a:stretch>
            <a:fillRect/>
          </a:stretch>
        </p:blipFill>
        <p:spPr>
          <a:xfrm>
            <a:off x="826512" y="333140"/>
            <a:ext cx="5105842" cy="5473065"/>
          </a:xfrm>
          <a:prstGeom prst="rect">
            <a:avLst/>
          </a:prstGeom>
        </p:spPr>
      </p:pic>
      <p:pic>
        <p:nvPicPr>
          <p:cNvPr id="5" name="Picture 4" descr="A graph with blue and orange lines&#10;&#10;AI-generated content may be incorrect.">
            <a:extLst>
              <a:ext uri="{FF2B5EF4-FFF2-40B4-BE49-F238E27FC236}">
                <a16:creationId xmlns:a16="http://schemas.microsoft.com/office/drawing/2014/main" id="{DCD97335-9204-0D62-A8ED-016D657FC55C}"/>
              </a:ext>
            </a:extLst>
          </p:cNvPr>
          <p:cNvPicPr>
            <a:picLocks noChangeAspect="1"/>
          </p:cNvPicPr>
          <p:nvPr/>
        </p:nvPicPr>
        <p:blipFill>
          <a:blip r:embed="rId3"/>
          <a:stretch>
            <a:fillRect/>
          </a:stretch>
        </p:blipFill>
        <p:spPr>
          <a:xfrm>
            <a:off x="6609489" y="339685"/>
            <a:ext cx="4647398" cy="2578945"/>
          </a:xfrm>
          <a:prstGeom prst="rect">
            <a:avLst/>
          </a:prstGeom>
        </p:spPr>
      </p:pic>
      <p:pic>
        <p:nvPicPr>
          <p:cNvPr id="7" name="Picture 6" descr="A graph with blue and orange lines&#10;&#10;AI-generated content may be incorrect.">
            <a:extLst>
              <a:ext uri="{FF2B5EF4-FFF2-40B4-BE49-F238E27FC236}">
                <a16:creationId xmlns:a16="http://schemas.microsoft.com/office/drawing/2014/main" id="{84ED9247-1AE9-8C8A-E5D5-D3C05C085C0B}"/>
              </a:ext>
            </a:extLst>
          </p:cNvPr>
          <p:cNvPicPr>
            <a:picLocks noChangeAspect="1"/>
          </p:cNvPicPr>
          <p:nvPr/>
        </p:nvPicPr>
        <p:blipFill>
          <a:blip r:embed="rId4"/>
          <a:stretch>
            <a:fillRect/>
          </a:stretch>
        </p:blipFill>
        <p:spPr>
          <a:xfrm>
            <a:off x="6609488" y="3233805"/>
            <a:ext cx="4647399" cy="2578945"/>
          </a:xfrm>
          <a:prstGeom prst="rect">
            <a:avLst/>
          </a:prstGeom>
        </p:spPr>
      </p:pic>
    </p:spTree>
    <p:extLst>
      <p:ext uri="{BB962C8B-B14F-4D97-AF65-F5344CB8AC3E}">
        <p14:creationId xmlns:p14="http://schemas.microsoft.com/office/powerpoint/2010/main" val="3073550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134F1-8811-EE1F-DB00-915EC195B43E}"/>
              </a:ext>
            </a:extLst>
          </p:cNvPr>
          <p:cNvSpPr>
            <a:spLocks noGrp="1"/>
          </p:cNvSpPr>
          <p:nvPr>
            <p:ph type="title"/>
          </p:nvPr>
        </p:nvSpPr>
        <p:spPr/>
        <p:txBody>
          <a:bodyPr/>
          <a:lstStyle/>
          <a:p>
            <a:r>
              <a:rPr lang="en-US" dirty="0"/>
              <a:t>EPOCH extraction</a:t>
            </a:r>
            <a:endParaRPr lang="en-IN" dirty="0"/>
          </a:p>
        </p:txBody>
      </p:sp>
      <p:sp>
        <p:nvSpPr>
          <p:cNvPr id="3" name="Content Placeholder 2">
            <a:extLst>
              <a:ext uri="{FF2B5EF4-FFF2-40B4-BE49-F238E27FC236}">
                <a16:creationId xmlns:a16="http://schemas.microsoft.com/office/drawing/2014/main" id="{E6CFFD1F-CEB7-D381-0ECA-52C1A791D83A}"/>
              </a:ext>
            </a:extLst>
          </p:cNvPr>
          <p:cNvSpPr>
            <a:spLocks noGrp="1"/>
          </p:cNvSpPr>
          <p:nvPr>
            <p:ph idx="1"/>
          </p:nvPr>
        </p:nvSpPr>
        <p:spPr/>
        <p:txBody>
          <a:bodyPr>
            <a:normAutofit fontScale="85000" lnSpcReduction="10000"/>
          </a:bodyPr>
          <a:lstStyle/>
          <a:p>
            <a:r>
              <a:rPr lang="en-US" dirty="0"/>
              <a:t>Epoch Extraction is the process of dividing a continuous EEG signal into smaller, time-locked segments centered around specific events of interest. In simpler terms, it's like cutting a long movie into short clips that all start at the exact same moment relative to something important that happened.</a:t>
            </a:r>
          </a:p>
          <a:p>
            <a:r>
              <a:rPr lang="en-US" dirty="0"/>
              <a:t>We record continuous EEG data while the user looks at the speller matrix.</a:t>
            </a:r>
          </a:p>
          <a:p>
            <a:r>
              <a:rPr lang="en-US" dirty="0"/>
              <a:t>Every time a letter flashes (our stimulus), we mark that exact timestamp in the data as an "event" or "trigger."</a:t>
            </a:r>
          </a:p>
          <a:p>
            <a:r>
              <a:rPr lang="en-US" dirty="0"/>
              <a:t>We create a window around each event, typically from 100ms </a:t>
            </a:r>
            <a:r>
              <a:rPr lang="en-US" i="1" dirty="0"/>
              <a:t>before</a:t>
            </a:r>
            <a:r>
              <a:rPr lang="en-US" dirty="0"/>
              <a:t> the stimulus to about 600-1000ms </a:t>
            </a:r>
            <a:r>
              <a:rPr lang="en-US" i="1" dirty="0"/>
              <a:t>after</a:t>
            </a:r>
            <a:r>
              <a:rPr lang="en-US" dirty="0"/>
              <a:t>.</a:t>
            </a:r>
          </a:p>
          <a:p>
            <a:r>
              <a:rPr lang="en-US" dirty="0"/>
              <a:t>We cut out segments of the data using these windows, creating multiple "epochs" - one for each flash event.</a:t>
            </a:r>
          </a:p>
          <a:p>
            <a:endParaRPr lang="en-IN" dirty="0"/>
          </a:p>
        </p:txBody>
      </p:sp>
    </p:spTree>
    <p:extLst>
      <p:ext uri="{BB962C8B-B14F-4D97-AF65-F5344CB8AC3E}">
        <p14:creationId xmlns:p14="http://schemas.microsoft.com/office/powerpoint/2010/main" val="3227354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graph&#10;&#10;AI-generated content may be incorrect.">
            <a:extLst>
              <a:ext uri="{FF2B5EF4-FFF2-40B4-BE49-F238E27FC236}">
                <a16:creationId xmlns:a16="http://schemas.microsoft.com/office/drawing/2014/main" id="{17ED1B2B-F9C6-1095-5900-8E0DFB861E32}"/>
              </a:ext>
            </a:extLst>
          </p:cNvPr>
          <p:cNvPicPr>
            <a:picLocks noChangeAspect="1"/>
          </p:cNvPicPr>
          <p:nvPr/>
        </p:nvPicPr>
        <p:blipFill>
          <a:blip r:embed="rId2"/>
          <a:stretch>
            <a:fillRect/>
          </a:stretch>
        </p:blipFill>
        <p:spPr>
          <a:xfrm>
            <a:off x="220471" y="986028"/>
            <a:ext cx="5875529" cy="3909399"/>
          </a:xfrm>
          <a:prstGeom prst="rect">
            <a:avLst/>
          </a:prstGeom>
        </p:spPr>
      </p:pic>
      <p:pic>
        <p:nvPicPr>
          <p:cNvPr id="11" name="Picture 10" descr="A screenshot of a graph&#10;&#10;AI-generated content may be incorrect.">
            <a:extLst>
              <a:ext uri="{FF2B5EF4-FFF2-40B4-BE49-F238E27FC236}">
                <a16:creationId xmlns:a16="http://schemas.microsoft.com/office/drawing/2014/main" id="{96C75D89-A7D6-DA34-660D-05777B70F002}"/>
              </a:ext>
            </a:extLst>
          </p:cNvPr>
          <p:cNvPicPr>
            <a:picLocks noChangeAspect="1"/>
          </p:cNvPicPr>
          <p:nvPr/>
        </p:nvPicPr>
        <p:blipFill>
          <a:blip r:embed="rId3"/>
          <a:stretch>
            <a:fillRect/>
          </a:stretch>
        </p:blipFill>
        <p:spPr>
          <a:xfrm>
            <a:off x="6362195" y="1062234"/>
            <a:ext cx="5829805" cy="3756986"/>
          </a:xfrm>
          <a:prstGeom prst="rect">
            <a:avLst/>
          </a:prstGeom>
        </p:spPr>
      </p:pic>
    </p:spTree>
    <p:extLst>
      <p:ext uri="{BB962C8B-B14F-4D97-AF65-F5344CB8AC3E}">
        <p14:creationId xmlns:p14="http://schemas.microsoft.com/office/powerpoint/2010/main" val="3427542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12F89-EB15-B6BF-0E0A-459491B74B33}"/>
              </a:ext>
            </a:extLst>
          </p:cNvPr>
          <p:cNvSpPr>
            <a:spLocks noGrp="1"/>
          </p:cNvSpPr>
          <p:nvPr>
            <p:ph type="title"/>
          </p:nvPr>
        </p:nvSpPr>
        <p:spPr/>
        <p:txBody>
          <a:bodyPr/>
          <a:lstStyle/>
          <a:p>
            <a:r>
              <a:rPr lang="en-US" dirty="0"/>
              <a:t>INDEPENDENT COMPONENTS ANALYSIS</a:t>
            </a:r>
            <a:endParaRPr lang="en-IN" dirty="0"/>
          </a:p>
        </p:txBody>
      </p:sp>
      <p:sp>
        <p:nvSpPr>
          <p:cNvPr id="3" name="Content Placeholder 2">
            <a:extLst>
              <a:ext uri="{FF2B5EF4-FFF2-40B4-BE49-F238E27FC236}">
                <a16:creationId xmlns:a16="http://schemas.microsoft.com/office/drawing/2014/main" id="{36C850E2-B02C-E037-4971-BACF3C5C608C}"/>
              </a:ext>
            </a:extLst>
          </p:cNvPr>
          <p:cNvSpPr>
            <a:spLocks noGrp="1"/>
          </p:cNvSpPr>
          <p:nvPr>
            <p:ph idx="1"/>
          </p:nvPr>
        </p:nvSpPr>
        <p:spPr/>
        <p:txBody>
          <a:bodyPr>
            <a:normAutofit lnSpcReduction="10000"/>
          </a:bodyPr>
          <a:lstStyle/>
          <a:p>
            <a:r>
              <a:rPr lang="en-US" dirty="0"/>
              <a:t>ICA is a blind source separation technique that separates EEG signals into statistically independent components. The idea is that the raw EEG recorded at each electrode is mixture of underlying sources.</a:t>
            </a:r>
          </a:p>
          <a:p>
            <a:r>
              <a:rPr lang="en-US" dirty="0"/>
              <a:t>MNE-Python implements three different ICA algorithms: </a:t>
            </a:r>
            <a:r>
              <a:rPr lang="en-US" dirty="0" err="1"/>
              <a:t>fastica</a:t>
            </a:r>
            <a:r>
              <a:rPr lang="en-US" dirty="0"/>
              <a:t> (the default), </a:t>
            </a:r>
            <a:r>
              <a:rPr lang="en-US" dirty="0" err="1"/>
              <a:t>picard</a:t>
            </a:r>
            <a:r>
              <a:rPr lang="en-US" dirty="0"/>
              <a:t>, and infomax. After visualizing the Independent Components (ICs) and excluding any that capture artifacts you want to repair, the sensor signal can be reconstructed using the </a:t>
            </a:r>
            <a:r>
              <a:rPr lang="en-US" b="1" dirty="0">
                <a:hlinkClick r:id="rId2" tooltip="mne.preprocessing.ICA"/>
              </a:rPr>
              <a:t>ICA</a:t>
            </a:r>
            <a:r>
              <a:rPr lang="en-US" dirty="0"/>
              <a:t> object’s </a:t>
            </a:r>
            <a:r>
              <a:rPr lang="en-US" b="1" dirty="0">
                <a:hlinkClick r:id="rId3" tooltip="mne.preprocessing.ICA.apply"/>
              </a:rPr>
              <a:t>apply</a:t>
            </a:r>
            <a:r>
              <a:rPr lang="en-US" dirty="0"/>
              <a:t> method. By default, signal reconstruction uses all of the ICs (less any ICs listed in </a:t>
            </a:r>
            <a:r>
              <a:rPr lang="en-US" dirty="0" err="1"/>
              <a:t>ICA.exclude</a:t>
            </a:r>
            <a:r>
              <a:rPr lang="en-US" dirty="0"/>
              <a:t>) plus all of the PCs that were not included in the ICA decomposition (i.e., the “PCA residual”). </a:t>
            </a:r>
          </a:p>
          <a:p>
            <a:endParaRPr lang="en-US" dirty="0"/>
          </a:p>
          <a:p>
            <a:endParaRPr lang="en-IN" dirty="0"/>
          </a:p>
        </p:txBody>
      </p:sp>
    </p:spTree>
    <p:extLst>
      <p:ext uri="{BB962C8B-B14F-4D97-AF65-F5344CB8AC3E}">
        <p14:creationId xmlns:p14="http://schemas.microsoft.com/office/powerpoint/2010/main" val="2141444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9D0C-E13E-9380-FD57-B3A178298A10}"/>
              </a:ext>
            </a:extLst>
          </p:cNvPr>
          <p:cNvSpPr>
            <a:spLocks noGrp="1"/>
          </p:cNvSpPr>
          <p:nvPr>
            <p:ph type="title"/>
          </p:nvPr>
        </p:nvSpPr>
        <p:spPr/>
        <p:txBody>
          <a:bodyPr>
            <a:normAutofit fontScale="90000"/>
          </a:bodyPr>
          <a:lstStyle/>
          <a:p>
            <a:r>
              <a:rPr lang="en-US" b="1" dirty="0"/>
              <a:t>Plotting topographic maps of evoked data</a:t>
            </a:r>
            <a:br>
              <a:rPr lang="en-US" b="1" dirty="0"/>
            </a:br>
            <a:endParaRPr lang="en-IN" dirty="0"/>
          </a:p>
        </p:txBody>
      </p:sp>
      <p:sp>
        <p:nvSpPr>
          <p:cNvPr id="3" name="Content Placeholder 2">
            <a:extLst>
              <a:ext uri="{FF2B5EF4-FFF2-40B4-BE49-F238E27FC236}">
                <a16:creationId xmlns:a16="http://schemas.microsoft.com/office/drawing/2014/main" id="{820D872D-61DB-D375-8573-D471B8991C6A}"/>
              </a:ext>
            </a:extLst>
          </p:cNvPr>
          <p:cNvSpPr>
            <a:spLocks noGrp="1"/>
          </p:cNvSpPr>
          <p:nvPr>
            <p:ph idx="1"/>
          </p:nvPr>
        </p:nvSpPr>
        <p:spPr/>
        <p:txBody>
          <a:bodyPr>
            <a:normAutofit fontScale="85000" lnSpcReduction="10000"/>
          </a:bodyPr>
          <a:lstStyle/>
          <a:p>
            <a:r>
              <a:rPr lang="en-US" dirty="0"/>
              <a:t>We plot evoked topographies using </a:t>
            </a:r>
            <a:r>
              <a:rPr lang="en-US" b="1" dirty="0" err="1">
                <a:hlinkClick r:id="rId2" tooltip="mne.Evoked.plot_topomap"/>
              </a:rPr>
              <a:t>mne.Evoked.plot_topomap</a:t>
            </a:r>
            <a:r>
              <a:rPr lang="en-US" b="1" dirty="0">
                <a:hlinkClick r:id="rId2" tooltip="mne.Evoked.plot_topomap"/>
              </a:rPr>
              <a:t>()</a:t>
            </a:r>
            <a:r>
              <a:rPr lang="en-US" dirty="0"/>
              <a:t>. The first argument, times allows to specify time instants (in seconds!) for which topographies will be shown. We select timepoints from 50 to 150 </a:t>
            </a:r>
            <a:r>
              <a:rPr lang="en-US" dirty="0" err="1"/>
              <a:t>ms</a:t>
            </a:r>
            <a:r>
              <a:rPr lang="en-US" dirty="0"/>
              <a:t> with a step of 20ms and plot magnetometer data.</a:t>
            </a:r>
          </a:p>
          <a:p>
            <a:r>
              <a:rPr lang="en-US" dirty="0"/>
              <a:t>We can also look at the effects of interpolating our data. Perhaps, we might have data per channel such as the impedance of each electrode that we don’t want interpolated, or we just want to visualize the data without interpolation as a sanity check. We can use </a:t>
            </a:r>
            <a:r>
              <a:rPr lang="en-US" dirty="0" err="1"/>
              <a:t>image_interp</a:t>
            </a:r>
            <a:r>
              <a:rPr lang="en-US" dirty="0"/>
              <a:t>='nearest' to prevent any interpolation or </a:t>
            </a:r>
            <a:r>
              <a:rPr lang="en-US" dirty="0" err="1"/>
              <a:t>image_interp</a:t>
            </a:r>
            <a:r>
              <a:rPr lang="en-US" dirty="0"/>
              <a:t>='linear' to do a linear interpolation instead of the default cubic interpolation.</a:t>
            </a:r>
          </a:p>
          <a:p>
            <a:br>
              <a:rPr lang="en-US" dirty="0"/>
            </a:br>
            <a:endParaRPr lang="en-IN" dirty="0"/>
          </a:p>
        </p:txBody>
      </p:sp>
    </p:spTree>
    <p:extLst>
      <p:ext uri="{BB962C8B-B14F-4D97-AF65-F5344CB8AC3E}">
        <p14:creationId xmlns:p14="http://schemas.microsoft.com/office/powerpoint/2010/main" val="1307324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circles with red and blue circles&#10;&#10;AI-generated content may be incorrect.">
            <a:extLst>
              <a:ext uri="{FF2B5EF4-FFF2-40B4-BE49-F238E27FC236}">
                <a16:creationId xmlns:a16="http://schemas.microsoft.com/office/drawing/2014/main" id="{8DE6C3F1-A057-2093-D576-8D6550FE656B}"/>
              </a:ext>
            </a:extLst>
          </p:cNvPr>
          <p:cNvPicPr>
            <a:picLocks noChangeAspect="1"/>
          </p:cNvPicPr>
          <p:nvPr/>
        </p:nvPicPr>
        <p:blipFill>
          <a:blip r:embed="rId2"/>
          <a:stretch>
            <a:fillRect/>
          </a:stretch>
        </p:blipFill>
        <p:spPr>
          <a:xfrm>
            <a:off x="2482944" y="612617"/>
            <a:ext cx="6675698" cy="4656223"/>
          </a:xfrm>
          <a:prstGeom prst="rect">
            <a:avLst/>
          </a:prstGeom>
        </p:spPr>
      </p:pic>
    </p:spTree>
    <p:extLst>
      <p:ext uri="{BB962C8B-B14F-4D97-AF65-F5344CB8AC3E}">
        <p14:creationId xmlns:p14="http://schemas.microsoft.com/office/powerpoint/2010/main" val="2085141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screen with black text&#10;&#10;AI-generated content may be incorrect.">
            <a:extLst>
              <a:ext uri="{FF2B5EF4-FFF2-40B4-BE49-F238E27FC236}">
                <a16:creationId xmlns:a16="http://schemas.microsoft.com/office/drawing/2014/main" id="{6B25E6E4-4C5C-DE5B-7BE9-A52E9F4BE229}"/>
              </a:ext>
            </a:extLst>
          </p:cNvPr>
          <p:cNvPicPr>
            <a:picLocks noChangeAspect="1"/>
          </p:cNvPicPr>
          <p:nvPr/>
        </p:nvPicPr>
        <p:blipFill>
          <a:blip r:embed="rId2"/>
          <a:stretch>
            <a:fillRect/>
          </a:stretch>
        </p:blipFill>
        <p:spPr>
          <a:xfrm>
            <a:off x="241233" y="464563"/>
            <a:ext cx="2057578" cy="2004234"/>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00970E6D-B433-A45F-CFA2-0E35A6EF4E3D}"/>
              </a:ext>
            </a:extLst>
          </p:cNvPr>
          <p:cNvPicPr>
            <a:picLocks noChangeAspect="1"/>
          </p:cNvPicPr>
          <p:nvPr/>
        </p:nvPicPr>
        <p:blipFill>
          <a:blip r:embed="rId3"/>
          <a:stretch>
            <a:fillRect/>
          </a:stretch>
        </p:blipFill>
        <p:spPr>
          <a:xfrm>
            <a:off x="3037995" y="472184"/>
            <a:ext cx="1988992" cy="1996613"/>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528B7418-CB9B-E4D5-80FB-C6600F778E30}"/>
              </a:ext>
            </a:extLst>
          </p:cNvPr>
          <p:cNvPicPr>
            <a:picLocks noChangeAspect="1"/>
          </p:cNvPicPr>
          <p:nvPr/>
        </p:nvPicPr>
        <p:blipFill>
          <a:blip r:embed="rId4"/>
          <a:stretch>
            <a:fillRect/>
          </a:stretch>
        </p:blipFill>
        <p:spPr>
          <a:xfrm>
            <a:off x="241233" y="3282990"/>
            <a:ext cx="2118544" cy="2011854"/>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9A9E869B-494C-85AE-83D4-DA6545BFCA53}"/>
              </a:ext>
            </a:extLst>
          </p:cNvPr>
          <p:cNvPicPr>
            <a:picLocks noChangeAspect="1"/>
          </p:cNvPicPr>
          <p:nvPr/>
        </p:nvPicPr>
        <p:blipFill>
          <a:blip r:embed="rId5"/>
          <a:stretch>
            <a:fillRect/>
          </a:stretch>
        </p:blipFill>
        <p:spPr>
          <a:xfrm>
            <a:off x="3037995" y="3252507"/>
            <a:ext cx="2118545" cy="2042337"/>
          </a:xfrm>
          <a:prstGeom prst="rect">
            <a:avLst/>
          </a:prstGeom>
        </p:spPr>
      </p:pic>
      <p:pic>
        <p:nvPicPr>
          <p:cNvPr id="17" name="Picture 16" descr="A screenshot of a computer program&#10;&#10;AI-generated content may be incorrect.">
            <a:extLst>
              <a:ext uri="{FF2B5EF4-FFF2-40B4-BE49-F238E27FC236}">
                <a16:creationId xmlns:a16="http://schemas.microsoft.com/office/drawing/2014/main" id="{1D3E9143-F310-F3C7-ED2A-374918C7023B}"/>
              </a:ext>
            </a:extLst>
          </p:cNvPr>
          <p:cNvPicPr>
            <a:picLocks noChangeAspect="1"/>
          </p:cNvPicPr>
          <p:nvPr/>
        </p:nvPicPr>
        <p:blipFill>
          <a:blip r:embed="rId6"/>
          <a:stretch>
            <a:fillRect/>
          </a:stretch>
        </p:blipFill>
        <p:spPr>
          <a:xfrm>
            <a:off x="5941540" y="1058307"/>
            <a:ext cx="5319221" cy="3924640"/>
          </a:xfrm>
          <a:prstGeom prst="rect">
            <a:avLst/>
          </a:prstGeom>
        </p:spPr>
      </p:pic>
    </p:spTree>
    <p:extLst>
      <p:ext uri="{BB962C8B-B14F-4D97-AF65-F5344CB8AC3E}">
        <p14:creationId xmlns:p14="http://schemas.microsoft.com/office/powerpoint/2010/main" val="2106696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07EF75C0-5128-0AC5-6CBE-5165986A5E5D}"/>
              </a:ext>
            </a:extLst>
          </p:cNvPr>
          <p:cNvPicPr>
            <a:picLocks noChangeAspect="1"/>
          </p:cNvPicPr>
          <p:nvPr/>
        </p:nvPicPr>
        <p:blipFill>
          <a:blip r:embed="rId2"/>
          <a:stretch>
            <a:fillRect/>
          </a:stretch>
        </p:blipFill>
        <p:spPr>
          <a:xfrm>
            <a:off x="1834954" y="1264378"/>
            <a:ext cx="3002540" cy="3513124"/>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2260B8C6-F325-3706-13A6-2EA483B83043}"/>
              </a:ext>
            </a:extLst>
          </p:cNvPr>
          <p:cNvPicPr>
            <a:picLocks noChangeAspect="1"/>
          </p:cNvPicPr>
          <p:nvPr/>
        </p:nvPicPr>
        <p:blipFill>
          <a:blip r:embed="rId3"/>
          <a:stretch>
            <a:fillRect/>
          </a:stretch>
        </p:blipFill>
        <p:spPr>
          <a:xfrm>
            <a:off x="6096000" y="1371067"/>
            <a:ext cx="3810330" cy="3299746"/>
          </a:xfrm>
          <a:prstGeom prst="rect">
            <a:avLst/>
          </a:prstGeom>
        </p:spPr>
      </p:pic>
    </p:spTree>
    <p:extLst>
      <p:ext uri="{BB962C8B-B14F-4D97-AF65-F5344CB8AC3E}">
        <p14:creationId xmlns:p14="http://schemas.microsoft.com/office/powerpoint/2010/main" val="2615568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B95F44A4-D686-FF29-36FD-0C9A6B8516DE}"/>
              </a:ext>
            </a:extLst>
          </p:cNvPr>
          <p:cNvPicPr>
            <a:picLocks noChangeAspect="1"/>
          </p:cNvPicPr>
          <p:nvPr/>
        </p:nvPicPr>
        <p:blipFill>
          <a:blip r:embed="rId2"/>
          <a:stretch>
            <a:fillRect/>
          </a:stretch>
        </p:blipFill>
        <p:spPr>
          <a:xfrm>
            <a:off x="3765727" y="476622"/>
            <a:ext cx="4496190" cy="5052498"/>
          </a:xfrm>
          <a:prstGeom prst="rect">
            <a:avLst/>
          </a:prstGeom>
        </p:spPr>
      </p:pic>
    </p:spTree>
    <p:extLst>
      <p:ext uri="{BB962C8B-B14F-4D97-AF65-F5344CB8AC3E}">
        <p14:creationId xmlns:p14="http://schemas.microsoft.com/office/powerpoint/2010/main" val="4231991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3985A-7CA6-E9FF-F277-307A3F0020A1}"/>
              </a:ext>
            </a:extLst>
          </p:cNvPr>
          <p:cNvSpPr>
            <a:spLocks noGrp="1"/>
          </p:cNvSpPr>
          <p:nvPr>
            <p:ph type="title"/>
          </p:nvPr>
        </p:nvSpPr>
        <p:spPr/>
        <p:txBody>
          <a:bodyPr/>
          <a:lstStyle/>
          <a:p>
            <a:r>
              <a:rPr lang="en-US" dirty="0"/>
              <a:t>Challenges faced by me</a:t>
            </a:r>
            <a:endParaRPr lang="en-IN" dirty="0"/>
          </a:p>
        </p:txBody>
      </p:sp>
      <p:sp>
        <p:nvSpPr>
          <p:cNvPr id="3" name="Content Placeholder 2">
            <a:extLst>
              <a:ext uri="{FF2B5EF4-FFF2-40B4-BE49-F238E27FC236}">
                <a16:creationId xmlns:a16="http://schemas.microsoft.com/office/drawing/2014/main" id="{9A0A12EC-0980-4352-78A1-2E3A98755381}"/>
              </a:ext>
            </a:extLst>
          </p:cNvPr>
          <p:cNvSpPr>
            <a:spLocks noGrp="1"/>
          </p:cNvSpPr>
          <p:nvPr>
            <p:ph idx="1"/>
          </p:nvPr>
        </p:nvSpPr>
        <p:spPr/>
        <p:txBody>
          <a:bodyPr/>
          <a:lstStyle/>
          <a:p>
            <a:r>
              <a:rPr lang="en-US" dirty="0"/>
              <a:t>Since I am a first year student doing </a:t>
            </a:r>
            <a:r>
              <a:rPr lang="en-US" dirty="0" err="1"/>
              <a:t>pyton</a:t>
            </a:r>
            <a:r>
              <a:rPr lang="en-US" dirty="0"/>
              <a:t> for the first time, it was quite difficult for me to understand the ML codes </a:t>
            </a:r>
            <a:r>
              <a:rPr lang="en-US" dirty="0" err="1"/>
              <a:t>etc</a:t>
            </a:r>
            <a:r>
              <a:rPr lang="en-US" dirty="0"/>
              <a:t> written in python though Manan taught ML </a:t>
            </a:r>
            <a:r>
              <a:rPr lang="en-US"/>
              <a:t>concepts very well, </a:t>
            </a:r>
            <a:r>
              <a:rPr lang="en-US" dirty="0"/>
              <a:t>it took time for me to understand those codes and write them at the same time, though I had AI to help me I felt that I was still lagging behind for quite some time.  </a:t>
            </a:r>
            <a:endParaRPr lang="en-IN" dirty="0"/>
          </a:p>
        </p:txBody>
      </p:sp>
    </p:spTree>
    <p:extLst>
      <p:ext uri="{BB962C8B-B14F-4D97-AF65-F5344CB8AC3E}">
        <p14:creationId xmlns:p14="http://schemas.microsoft.com/office/powerpoint/2010/main" val="265830210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274</TotalTime>
  <Words>1014</Words>
  <Application>Microsoft Office PowerPoint</Application>
  <PresentationFormat>Widescreen</PresentationFormat>
  <Paragraphs>38</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Gill Sans MT</vt:lpstr>
      <vt:lpstr>Gallery</vt:lpstr>
      <vt:lpstr>EEG-Based P300 Speller</vt:lpstr>
      <vt:lpstr>Basic things we used</vt:lpstr>
      <vt:lpstr>What are we doing in this project</vt:lpstr>
      <vt:lpstr>Machine learning</vt:lpstr>
      <vt:lpstr>preprocessing: FILTERING AND RESAMPLING</vt:lpstr>
      <vt:lpstr>PowerPoint Presentation</vt:lpstr>
      <vt:lpstr>PowerPoint Presentation</vt:lpstr>
      <vt:lpstr>EPOCH extraction</vt:lpstr>
      <vt:lpstr>PowerPoint Presentation</vt:lpstr>
      <vt:lpstr>INDEPENDENT COMPONENTS ANALYSIS</vt:lpstr>
      <vt:lpstr>Plotting topographic maps of evoked data </vt:lpstr>
      <vt:lpstr>PowerPoint Presentation</vt:lpstr>
      <vt:lpstr>PowerPoint Presentation</vt:lpstr>
      <vt:lpstr>PowerPoint Presentation</vt:lpstr>
      <vt:lpstr>PowerPoint Presentation</vt:lpstr>
      <vt:lpstr>Challenges faced by 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Samruddhi Shinkar</dc:creator>
  <cp:lastModifiedBy>Samruddhi Shinkar</cp:lastModifiedBy>
  <cp:revision>3</cp:revision>
  <dcterms:created xsi:type="dcterms:W3CDTF">2026-01-08T05:40:22Z</dcterms:created>
  <dcterms:modified xsi:type="dcterms:W3CDTF">2026-01-09T11:31:09Z</dcterms:modified>
</cp:coreProperties>
</file>